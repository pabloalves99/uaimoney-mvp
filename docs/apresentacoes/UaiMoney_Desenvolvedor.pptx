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03f7436771341a2" /><Relationship Type="http://schemas.openxmlformats.org/officeDocument/2006/relationships/extended-properties" Target="/docProps/app.xml" Id="R85951662554148ef" /><Relationship Type="http://schemas.openxmlformats.org/officeDocument/2006/relationships/officeDocument" Target="/ppt/presentation.xml" Id="R688a660ba598433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fadaa99a749459e"/>
  </p:sldMasterIdLst>
  <p:notesMasterIdLst>
    <p:notesMasterId xmlns:r="http://schemas.openxmlformats.org/officeDocument/2006/relationships" r:id="R88c030fcc9fb4974"/>
  </p:notesMasterIdLst>
  <p:sldIdLst>
    <p:sldId xmlns:r="http://schemas.openxmlformats.org/officeDocument/2006/relationships" id="256" r:id="R226bc666a7844779"/>
    <p:sldId xmlns:r="http://schemas.openxmlformats.org/officeDocument/2006/relationships" id="257" r:id="Rb033ee387a34411d"/>
    <p:sldId xmlns:r="http://schemas.openxmlformats.org/officeDocument/2006/relationships" id="258" r:id="R67d7c2bd01454fd4"/>
    <p:sldId xmlns:r="http://schemas.openxmlformats.org/officeDocument/2006/relationships" id="259" r:id="Re0af60c08c9a4d5b"/>
    <p:sldId xmlns:r="http://schemas.openxmlformats.org/officeDocument/2006/relationships" id="260" r:id="R98ba41bd33ee45a9"/>
    <p:sldId xmlns:r="http://schemas.openxmlformats.org/officeDocument/2006/relationships" id="261" r:id="R26b9869b2cdf43d5"/>
    <p:sldId xmlns:r="http://schemas.openxmlformats.org/officeDocument/2006/relationships" id="262" r:id="R3c1a89d94704409b"/>
    <p:sldId xmlns:r="http://schemas.openxmlformats.org/officeDocument/2006/relationships" id="263" r:id="R2b044da221cc4621"/>
    <p:sldId xmlns:r="http://schemas.openxmlformats.org/officeDocument/2006/relationships" id="264" r:id="R2c6e4f950dea46d4"/>
    <p:sldId xmlns:r="http://schemas.openxmlformats.org/officeDocument/2006/relationships" id="265" r:id="Rf7b7891e8f52440a"/>
    <p:sldId xmlns:r="http://schemas.openxmlformats.org/officeDocument/2006/relationships" id="266" r:id="R81dabe7291544b6b"/>
    <p:sldId xmlns:r="http://schemas.openxmlformats.org/officeDocument/2006/relationships" id="267" r:id="R0fa9f18f50d94aaa"/>
    <p:sldId xmlns:r="http://schemas.openxmlformats.org/officeDocument/2006/relationships" id="268" r:id="Rafc1890d971c4d15"/>
    <p:sldId xmlns:r="http://schemas.openxmlformats.org/officeDocument/2006/relationships" id="269" r:id="R1709be5d48204394"/>
    <p:sldId xmlns:r="http://schemas.openxmlformats.org/officeDocument/2006/relationships" id="270" r:id="Rd59938861e1648cf"/>
    <p:sldId xmlns:r="http://schemas.openxmlformats.org/officeDocument/2006/relationships" id="271" r:id="R8a90ef58986e4f4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eb1b9ac2a324a02" /><Relationship Type="http://schemas.openxmlformats.org/officeDocument/2006/relationships/slideMaster" Target="/ppt/slideMasters/slideMaster1.xml" Id="R9fadaa99a749459e" /><Relationship Type="http://schemas.openxmlformats.org/officeDocument/2006/relationships/notesMaster" Target="/ppt/notesMasters/notesMaster1.xml" Id="R88c030fcc9fb4974" /><Relationship Type="http://schemas.openxmlformats.org/officeDocument/2006/relationships/presProps" Target="/ppt/presProps.xml" Id="R9e8cb0a1137646e2" /><Relationship Type="http://schemas.openxmlformats.org/officeDocument/2006/relationships/tableStyles" Target="/ppt/tableStyles.xml" Id="R456629d448984234" /><Relationship Type="http://schemas.openxmlformats.org/officeDocument/2006/relationships/slide" Target="/ppt/slides/slide1.xml" Id="R226bc666a7844779" /><Relationship Type="http://schemas.openxmlformats.org/officeDocument/2006/relationships/slide" Target="/ppt/slides/slide2.xml" Id="Rb033ee387a34411d" /><Relationship Type="http://schemas.openxmlformats.org/officeDocument/2006/relationships/slide" Target="/ppt/slides/slide3.xml" Id="R67d7c2bd01454fd4" /><Relationship Type="http://schemas.openxmlformats.org/officeDocument/2006/relationships/slide" Target="/ppt/slides/slide4.xml" Id="Re0af60c08c9a4d5b" /><Relationship Type="http://schemas.openxmlformats.org/officeDocument/2006/relationships/slide" Target="/ppt/slides/slide5.xml" Id="R98ba41bd33ee45a9" /><Relationship Type="http://schemas.openxmlformats.org/officeDocument/2006/relationships/slide" Target="/ppt/slides/slide6.xml" Id="R26b9869b2cdf43d5" /><Relationship Type="http://schemas.openxmlformats.org/officeDocument/2006/relationships/slide" Target="/ppt/slides/slide7.xml" Id="R3c1a89d94704409b" /><Relationship Type="http://schemas.openxmlformats.org/officeDocument/2006/relationships/slide" Target="/ppt/slides/slide8.xml" Id="R2b044da221cc4621" /><Relationship Type="http://schemas.openxmlformats.org/officeDocument/2006/relationships/slide" Target="/ppt/slides/slide9.xml" Id="R2c6e4f950dea46d4" /><Relationship Type="http://schemas.openxmlformats.org/officeDocument/2006/relationships/slide" Target="/ppt/slides/slide10.xml" Id="Rf7b7891e8f52440a" /><Relationship Type="http://schemas.openxmlformats.org/officeDocument/2006/relationships/slide" Target="/ppt/slides/slide11.xml" Id="R81dabe7291544b6b" /><Relationship Type="http://schemas.openxmlformats.org/officeDocument/2006/relationships/slide" Target="/ppt/slides/slide12.xml" Id="R0fa9f18f50d94aaa" /><Relationship Type="http://schemas.openxmlformats.org/officeDocument/2006/relationships/slide" Target="/ppt/slides/slide13.xml" Id="Rafc1890d971c4d15" /><Relationship Type="http://schemas.openxmlformats.org/officeDocument/2006/relationships/slide" Target="/ppt/slides/slide14.xml" Id="R1709be5d48204394" /><Relationship Type="http://schemas.openxmlformats.org/officeDocument/2006/relationships/slide" Target="/ppt/slides/slide15.xml" Id="Rd59938861e1648cf" /><Relationship Type="http://schemas.openxmlformats.org/officeDocument/2006/relationships/slide" Target="/ppt/slides/slide16.xml" Id="R8a90ef58986e4f4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ba14dd730ac491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6af79c307ac4164" /><Relationship Type="http://schemas.openxmlformats.org/officeDocument/2006/relationships/notesMaster" Target="/ppt/notesMasters/notesMaster1.xml" Id="R7b8cb74bb3e544c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452e2718a7e4c07" /><Relationship Type="http://schemas.openxmlformats.org/officeDocument/2006/relationships/notesMaster" Target="/ppt/notesMasters/notesMaster1.xml" Id="R0a03dee7ffb34c4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73fa1ce324441cb" /><Relationship Type="http://schemas.openxmlformats.org/officeDocument/2006/relationships/notesMaster" Target="/ppt/notesMasters/notesMaster1.xml" Id="Rc201458756464c1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3c7bae23b1c4604" /><Relationship Type="http://schemas.openxmlformats.org/officeDocument/2006/relationships/notesMaster" Target="/ppt/notesMasters/notesMaster1.xml" Id="R8fac686934574b6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510fa1af8554751" /><Relationship Type="http://schemas.openxmlformats.org/officeDocument/2006/relationships/notesMaster" Target="/ppt/notesMasters/notesMaster1.xml" Id="R2fc5bebe91e643a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56efa1239e2489b" /><Relationship Type="http://schemas.openxmlformats.org/officeDocument/2006/relationships/notesMaster" Target="/ppt/notesMasters/notesMaster1.xml" Id="Rbc342d6f9ae7456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e79854a044744fb" /><Relationship Type="http://schemas.openxmlformats.org/officeDocument/2006/relationships/notesMaster" Target="/ppt/notesMasters/notesMaster1.xml" Id="Rab7c6de59e354ad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aedca93001947a7" /><Relationship Type="http://schemas.openxmlformats.org/officeDocument/2006/relationships/notesMaster" Target="/ppt/notesMasters/notesMaster1.xml" Id="R90e771ff3fef494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7277d5a7d084025" /><Relationship Type="http://schemas.openxmlformats.org/officeDocument/2006/relationships/notesMaster" Target="/ppt/notesMasters/notesMaster1.xml" Id="R05b5b02d665441f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ed20dcf680d4bbc" /><Relationship Type="http://schemas.openxmlformats.org/officeDocument/2006/relationships/notesMaster" Target="/ppt/notesMasters/notesMaster1.xml" Id="R190f97db6b9e447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442def3c5514868" /><Relationship Type="http://schemas.openxmlformats.org/officeDocument/2006/relationships/notesMaster" Target="/ppt/notesMasters/notesMaster1.xml" Id="R0a64857f87ac4e2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b977350d4d447c9" /><Relationship Type="http://schemas.openxmlformats.org/officeDocument/2006/relationships/notesMaster" Target="/ppt/notesMasters/notesMaster1.xml" Id="R611d4b213e0848c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97ed198309b4c7c" /><Relationship Type="http://schemas.openxmlformats.org/officeDocument/2006/relationships/notesMaster" Target="/ppt/notesMasters/notesMaster1.xml" Id="R5b3e8bcc98b748d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2565a1f719d4ba0" /><Relationship Type="http://schemas.openxmlformats.org/officeDocument/2006/relationships/notesMaster" Target="/ppt/notesMasters/notesMaster1.xml" Id="Rb3e5df15c3b44ee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dc995c8fd744cfe" /><Relationship Type="http://schemas.openxmlformats.org/officeDocument/2006/relationships/notesMaster" Target="/ppt/notesMasters/notesMaster1.xml" Id="R22a59ad431e544b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1e6b9b4f7ab4c61" /><Relationship Type="http://schemas.openxmlformats.org/officeDocument/2006/relationships/notesMaster" Target="/ppt/notesMasters/notesMaster1.xml" Id="Rb7d80942c8a1438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UaiMoney. Recursos disponíveis no MVP local em 22/09/2026. Fontes: README.md, docs/mvp-implementation.md, docs/operations.md, routes/finance.php e implementação em app/. Valores ilustrativos, quando presentes, não representam dados financeiros do usuário. Recursos futuros não estão implementados.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UaiMoney. Recursos disponíveis no MVP local em 22/09/2026. Fontes: README.md, docs/mvp-implementation.md, docs/operations.md, routes/finance.php e implementação em app/. Valores ilustrativos, quando presentes, não representam dados financeiros do usuário. Recursos futuros não estão implementados.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UaiMoney. Recursos disponíveis no MVP local em 22/09/2026. Fontes: README.md, docs/mvp-implementation.md, docs/operations.md, routes/finance.php e implementação em app/. Valores ilustrativos, quando presentes, não representam dados financeiros do usuário. Recursos futuros não estão implementados.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UaiMoney. Recursos disponíveis no MVP local em 22/09/2026. Fontes: README.md, docs/mvp-implementation.md, docs/operations.md, routes/finance.php e implementação em app/. Valores ilustrativos, quando presentes, não representam dados financeiros do usuário. Recursos futuros não estão implementados.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UaiMoney. Recursos disponíveis no MVP local em 22/09/2026. Fontes: README.md, docs/mvp-implementation.md, docs/operations.md, routes/finance.php e implementação em app/. Valores ilustrativos, quando presentes, não representam dados financeiros do usuário. Recursos futuros não estão implementados.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UaiMoney. Recursos disponíveis no MVP local em 22/09/2026. Fontes: README.md, docs/mvp-implementation.md, docs/operations.md, routes/finance.php e implementação em app/. Valores ilustrativos, quando presentes, não representam dados financeiros do usuário. Recursos futuros não estão implementados.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UaiMoney. Recursos disponíveis no MVP local em 22/09/2026. Fontes: README.md, docs/mvp-implementation.md, docs/operations.md, routes/finance.php e implementação em app/. Valores ilustrativos, quando presentes, não representam dados financeiros do usuário. Recursos futuros não estão implementados.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UaiMoney. Recursos disponíveis no MVP local em 22/09/2026. Fontes: README.md, docs/mvp-implementation.md, docs/operations.md, routes/finance.php e implementação em app/. Valores ilustrativos, quando presentes, não representam dados financeiros do usuário. Recursos futuros não estão implementados.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UaiMoney. Recursos disponíveis no MVP local em 22/09/2026. Fontes: README.md, docs/mvp-implementation.md, docs/operations.md, routes/finance.php e implementação em app/. Valores ilustrativos, quando presentes, não representam dados financeiros do usuário. Recursos futuros não estão implementados.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UaiMoney. Recursos disponíveis no MVP local em 22/09/2026. Fontes: README.md, docs/mvp-implementation.md, docs/operations.md, routes/finance.php e implementação em app/. Valores ilustrativos, quando presentes, não representam dados financeiros do usuário. Recursos futuros não estão implementados.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UaiMoney. Recursos disponíveis no MVP local em 22/09/2026. Fontes: README.md, docs/mvp-implementation.md, docs/operations.md, routes/finance.php e implementação em app/. Valores ilustrativos, quando presentes, não representam dados financeiros do usuário. Recursos futuros não estão implementados.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UaiMoney. Recursos disponíveis no MVP local em 22/09/2026. Fontes: README.md, docs/mvp-implementation.md, docs/operations.md, routes/finance.php e implementação em app/. Valores ilustrativos, quando presentes, não representam dados financeiros do usuário. Recursos futuros não estão implementados.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UaiMoney. Recursos disponíveis no MVP local em 22/09/2026. Fontes: README.md, docs/mvp-implementation.md, docs/operations.md, routes/finance.php e implementação em app/. Valores ilustrativos, quando presentes, não representam dados financeiros do usuário. Recursos futuros não estão implementados.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UaiMoney. Recursos disponíveis no MVP local em 22/09/2026. Fontes: README.md, docs/mvp-implementation.md, docs/operations.md, routes/finance.php e implementação em app/. Valores ilustrativos, quando presentes, não representam dados financeiros do usuário. Recursos futuros não estão implementados.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UaiMoney. Recursos disponíveis no MVP local em 22/09/2026. Fontes: README.md, docs/mvp-implementation.md, docs/operations.md, routes/finance.php e implementação em app/. Valores ilustrativos, quando presentes, não representam dados financeiros do usuário. Recursos futuros não estão implementados.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UaiMoney. Recursos disponíveis no MVP local em 22/09/2026. Fontes: README.md, docs/mvp-implementation.md, docs/operations.md, routes/finance.php e implementação em app/. Valores ilustrativos, quando presentes, não representam dados financeiros do usuário. Recursos futuros não estão implementados.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4900f1ddc8412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f2eef02d5934816" /><Relationship Type="http://schemas.openxmlformats.org/officeDocument/2006/relationships/slideLayout" Target="/ppt/slideLayouts/slideLayout1.xml" Id="R8281a703e394491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281a703e394491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916774cedc492c" /><Relationship Type="http://schemas.openxmlformats.org/officeDocument/2006/relationships/notesSlide" Target="/ppt/notesSlides/notesSlide1.xml" Id="Rb45015f62820459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141ddd09d5485b" /><Relationship Type="http://schemas.openxmlformats.org/officeDocument/2006/relationships/notesSlide" Target="/ppt/notesSlides/notesSlide2.xml" Id="R48a68d4246184a3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5022b637964cb8" /><Relationship Type="http://schemas.openxmlformats.org/officeDocument/2006/relationships/notesSlide" Target="/ppt/notesSlides/notesSlide3.xml" Id="Rd8e7a42a28004b7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fd6b29710a4702" /><Relationship Type="http://schemas.openxmlformats.org/officeDocument/2006/relationships/notesSlide" Target="/ppt/notesSlides/notesSlide4.xml" Id="Re84104c53ce2442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69742c94894b4a" /><Relationship Type="http://schemas.openxmlformats.org/officeDocument/2006/relationships/notesSlide" Target="/ppt/notesSlides/notesSlide5.xml" Id="R227f052edbcd4d8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93c5a9b29346c9" /><Relationship Type="http://schemas.openxmlformats.org/officeDocument/2006/relationships/notesSlide" Target="/ppt/notesSlides/notesSlide6.xml" Id="R7b8975e9d54c475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d70bb2c91b4881" /><Relationship Type="http://schemas.openxmlformats.org/officeDocument/2006/relationships/notesSlide" Target="/ppt/notesSlides/notesSlide7.xml" Id="Radef93463470400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48fd4dd3644d92" /><Relationship Type="http://schemas.openxmlformats.org/officeDocument/2006/relationships/notesSlide" Target="/ppt/notesSlides/notesSlide8.xml" Id="Re84b152d7fbf4dd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0f7df31df34eb6" /><Relationship Type="http://schemas.openxmlformats.org/officeDocument/2006/relationships/notesSlide" Target="/ppt/notesSlides/notesSlide9.xml" Id="R9c717ebefcb9419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440ada09604a59" /><Relationship Type="http://schemas.openxmlformats.org/officeDocument/2006/relationships/notesSlide" Target="/ppt/notesSlides/notesSlide10.xml" Id="R9c2c841ade9346e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6484d433404b67" /><Relationship Type="http://schemas.openxmlformats.org/officeDocument/2006/relationships/notesSlide" Target="/ppt/notesSlides/notesSlide11.xml" Id="R71b5393baff2463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bcce5619644b29" /><Relationship Type="http://schemas.openxmlformats.org/officeDocument/2006/relationships/notesSlide" Target="/ppt/notesSlides/notesSlide12.xml" Id="R9db657a30a7a407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2d1e54d4db4359" /><Relationship Type="http://schemas.openxmlformats.org/officeDocument/2006/relationships/notesSlide" Target="/ppt/notesSlides/notesSlide13.xml" Id="Rdc1e66b1aa01479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f2cae1086e470f" /><Relationship Type="http://schemas.openxmlformats.org/officeDocument/2006/relationships/notesSlide" Target="/ppt/notesSlides/notesSlide14.xml" Id="Rffb9793b983b4f0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041368350a466c" /><Relationship Type="http://schemas.openxmlformats.org/officeDocument/2006/relationships/notesSlide" Target="/ppt/notesSlides/notesSlide15.xml" Id="R4cef84a37caa452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b24eac0c7f4408" /><Relationship Type="http://schemas.openxmlformats.org/officeDocument/2006/relationships/notesSlide" Target="/ppt/notesSlides/notesSlide16.xml" Id="R62a71dec9ff84cd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3C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0DD0EF-7A6E-475A-B561-887B47216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00150"/>
            <a:ext cx="10668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UaiMoney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B315F3-B5EB-4333-81F7-C2CB532F1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1028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67E0BE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67E0BE"/>
                </a:solidFill>
                <a:latin typeface="Arial"/>
                <a:ea typeface="Arial"/>
                <a:cs typeface="Arial"/>
              </a:rPr>
              <a:t>Arquitetura e operação do MVP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14D3B9-4C42-464C-922B-7AB745BB8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10001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BEDBD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BEDBD4"/>
                </a:solidFill>
                <a:latin typeface="Arial"/>
                <a:ea typeface="Arial"/>
                <a:cs typeface="Arial"/>
              </a:rPr>
              <a:t>Apresentação para desenvolvedores</a:t>
            </a:r>
          </a:p>
          <a:p xmlns:a="http://schemas.openxmlformats.org/drawingml/2006/main">
            <a:pPr>
              <a:defRPr sz="2025" b="0">
                <a:solidFill>
                  <a:srgbClr val="BEDBD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BEDBD4"/>
                </a:solidFill>
                <a:latin typeface="Arial"/>
                <a:ea typeface="Arial"/>
                <a:cs typeface="Arial"/>
              </a:rPr>
              <a:t>Base de código de setembro de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DF12E1-25C8-4FA8-8B16-EC251069C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34125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EDBD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EDBD4"/>
                </a:solidFill>
                <a:latin typeface="Arial"/>
                <a:ea typeface="Arial"/>
                <a:cs typeface="Arial"/>
              </a:rPr>
              <a:t>Guia técnico    /    01</a:t>
            </a:r>
          </a:p>
        </p:txBody>
      </p:sp>
    </p:spTree>
    <p:extLst>
      <p:ext uri="{BB962C8B-B14F-4D97-AF65-F5344CB8AC3E}">
        <p14:creationId xmlns:p14="http://schemas.microsoft.com/office/powerpoint/2010/main" val="16612467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14F5DB-1D0E-4BEA-A6A2-9E0BC49AF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2D3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D30"/>
                </a:solidFill>
                <a:latin typeface="Arial"/>
                <a:ea typeface="Arial"/>
                <a:cs typeface="Arial"/>
              </a:rPr>
              <a:t>Escopo técnico atual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A48592-9DB2-4EA6-8770-9DCE102BE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95450"/>
            <a:ext cx="31146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86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864"/>
                </a:solidFill>
                <a:latin typeface="Arial"/>
                <a:ea typeface="Arial"/>
                <a:cs typeface="Arial"/>
              </a:rPr>
              <a:t>Aplicação existente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4D796C-4FA7-4031-B61D-4A7A09684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1695450"/>
            <a:ext cx="7296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D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D30"/>
                </a:solidFill>
                <a:latin typeface="Arial"/>
                <a:ea typeface="Arial"/>
                <a:cs typeface="Arial"/>
              </a:rPr>
              <a:t>PHP 8.1+, SQLite, Apache, Bootstrap e JavaScript. Composer mantém o autoload PSR-4.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E2DB2B-FE63-4A34-BC6B-D7A305A5E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33725"/>
            <a:ext cx="31146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86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864"/>
                </a:solidFill>
                <a:latin typeface="Arial"/>
                <a:ea typeface="Arial"/>
                <a:cs typeface="Arial"/>
              </a:rPr>
              <a:t>Domínio implementado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377306-7C6F-4367-BE1B-13067A7AF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3133725"/>
            <a:ext cx="7296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D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D30"/>
                </a:solidFill>
                <a:latin typeface="Arial"/>
                <a:ea typeface="Arial"/>
                <a:cs typeface="Arial"/>
              </a:rPr>
              <a:t>Contas, categorias, transações, parcelas, recorrências, cartões, faturas, orçamento e relatórios.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365D0A-80B2-4C9C-B9E1-63659AFA7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31146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86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864"/>
                </a:solidFill>
                <a:latin typeface="Arial"/>
                <a:ea typeface="Arial"/>
                <a:cs typeface="Arial"/>
              </a:rPr>
              <a:t>Marco atual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D1962B-92E6-4DE1-9054-A3F50AD7C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4572000"/>
            <a:ext cx="7296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D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D30"/>
                </a:solidFill>
                <a:latin typeface="Arial"/>
                <a:ea typeface="Arial"/>
                <a:cs typeface="Arial"/>
              </a:rPr>
              <a:t>Uso local e validação funcional. Cobrança por assinatura e operação pública ainda não fazem parte da entrega.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5DB0CE-0619-432B-8F65-FCAE7961A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34125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65D6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65D60"/>
                </a:solidFill>
                <a:latin typeface="Arial"/>
                <a:ea typeface="Arial"/>
                <a:cs typeface="Arial"/>
              </a:rPr>
              <a:t>Guia técnico    /    02</a:t>
            </a:r>
          </a:p>
        </p:txBody>
      </p:sp>
    </p:spTree>
    <p:extLst>
      <p:ext uri="{BB962C8B-B14F-4D97-AF65-F5344CB8AC3E}">
        <p14:creationId xmlns:p14="http://schemas.microsoft.com/office/powerpoint/2010/main" val="12558058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471426-DD4F-4566-BB58-5C8683AE9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2D3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D30"/>
                </a:solidFill>
                <a:latin typeface="Arial"/>
                <a:ea typeface="Arial"/>
                <a:cs typeface="Arial"/>
              </a:rPr>
              <a:t>Responsabilidades por camada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7C3223-532D-49B0-8F99-8927951F9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95450"/>
            <a:ext cx="31146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86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864"/>
                </a:solidFill>
                <a:latin typeface="Arial"/>
                <a:ea typeface="Arial"/>
                <a:cs typeface="Arial"/>
              </a:rPr>
              <a:t>Controllers e rotas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3AB17B-2D5A-41D2-8402-A5F0CD446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1695450"/>
            <a:ext cx="7296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D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D30"/>
                </a:solidFill>
                <a:latin typeface="Arial"/>
                <a:ea typeface="Arial"/>
                <a:cs typeface="Arial"/>
              </a:rPr>
              <a:t>Tratam HTTP, autenticação, parâmetros, mensagens e seleção das Views. Entrada em public/index.php.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60D04B-684F-455F-998E-DB5920CE0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33725"/>
            <a:ext cx="31146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86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864"/>
                </a:solidFill>
                <a:latin typeface="Arial"/>
                <a:ea typeface="Arial"/>
                <a:cs typeface="Arial"/>
              </a:rPr>
              <a:t>Services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78E59C-5517-4151-AE01-E26D3CA89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3133725"/>
            <a:ext cx="7296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D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D30"/>
                </a:solidFill>
                <a:latin typeface="Arial"/>
                <a:ea typeface="Arial"/>
                <a:cs typeface="Arial"/>
              </a:rPr>
              <a:t>Validam propriedade, datas, dinheiro e regras de negócio. Coordenam as operações financeiras.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5B7B95-A0BC-470B-8864-F85AF4CF1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31146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86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864"/>
                </a:solidFill>
                <a:latin typeface="Arial"/>
                <a:ea typeface="Arial"/>
                <a:cs typeface="Arial"/>
              </a:rPr>
              <a:t>Repositories e Views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7D2007-43B5-43D6-9797-D1BC48077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4572000"/>
            <a:ext cx="7296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D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D30"/>
                </a:solidFill>
                <a:latin typeface="Arial"/>
                <a:ea typeface="Arial"/>
                <a:cs typeface="Arial"/>
              </a:rPr>
              <a:t>Repositories concentram SQL. Views apresentam os dados com escape HTML e formulários protegidos.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50533E-8315-4656-8799-37A666D15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34125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65D6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65D60"/>
                </a:solidFill>
                <a:latin typeface="Arial"/>
                <a:ea typeface="Arial"/>
                <a:cs typeface="Arial"/>
              </a:rPr>
              <a:t>Guia técnico    /    03</a:t>
            </a:r>
          </a:p>
        </p:txBody>
      </p:sp>
    </p:spTree>
    <p:extLst>
      <p:ext uri="{BB962C8B-B14F-4D97-AF65-F5344CB8AC3E}">
        <p14:creationId xmlns:p14="http://schemas.microsoft.com/office/powerpoint/2010/main" val="20052857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535690-CE18-4B44-A38B-AEFA12529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2D3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D30"/>
                </a:solidFill>
                <a:latin typeface="Arial"/>
                <a:ea typeface="Arial"/>
                <a:cs typeface="Arial"/>
              </a:rPr>
              <a:t>Mapa do código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87AE02-E1A1-4336-8442-E35313AAC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95450"/>
            <a:ext cx="31146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86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864"/>
                </a:solidFill>
                <a:latin typeface="Arial"/>
                <a:ea typeface="Arial"/>
                <a:cs typeface="Arial"/>
              </a:rPr>
              <a:t>Núcleo financeiro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C3C616-EDB3-4F2C-A6FA-71C24B7B8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1695450"/>
            <a:ext cx="7296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D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D30"/>
                </a:solidFill>
                <a:latin typeface="Arial"/>
                <a:ea typeface="Arial"/>
                <a:cs typeface="Arial"/>
              </a:rPr>
              <a:t>CardService, LedgerService e PlanningService cuidam dos novos fluxos. TransactionService mantém os lançamentos.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EBCDDB-5161-4170-8805-5F4968071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33725"/>
            <a:ext cx="31146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86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864"/>
                </a:solidFill>
                <a:latin typeface="Arial"/>
                <a:ea typeface="Arial"/>
                <a:cs typeface="Arial"/>
              </a:rPr>
              <a:t>Consulta e interface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A1ECC8-DB70-4BD4-B272-F67A11EA9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3133725"/>
            <a:ext cx="7296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D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D30"/>
                </a:solidFill>
                <a:latin typeface="Arial"/>
                <a:ea typeface="Arial"/>
                <a:cs typeface="Arial"/>
              </a:rPr>
              <a:t>ActivityRepository e ReportRepository sustentam filtros e agregações. routes/finance.php registra os novos módulos.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FB1A35-B1EE-4817-86E5-1510F9FED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31146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86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864"/>
                </a:solidFill>
                <a:latin typeface="Arial"/>
                <a:ea typeface="Arial"/>
                <a:cs typeface="Arial"/>
              </a:rPr>
              <a:t>Infraestrutura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DE69D1-4DBC-42BB-B8CB-7AAB10A19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4572000"/>
            <a:ext cx="7296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D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D30"/>
                </a:solidFill>
                <a:latin typeface="Arial"/>
                <a:ea typeface="Arial"/>
                <a:cs typeface="Arial"/>
              </a:rPr>
              <a:t>app/Core contém Money, FinancialDate, Session, Csrf, RateLimiter e ErrorHandler.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35646B-47A5-4418-9480-8557A4F2D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34125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65D6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65D60"/>
                </a:solidFill>
                <a:latin typeface="Arial"/>
                <a:ea typeface="Arial"/>
                <a:cs typeface="Arial"/>
              </a:rPr>
              <a:t>Guia técnico    /    04</a:t>
            </a:r>
          </a:p>
        </p:txBody>
      </p:sp>
    </p:spTree>
    <p:extLst>
      <p:ext uri="{BB962C8B-B14F-4D97-AF65-F5344CB8AC3E}">
        <p14:creationId xmlns:p14="http://schemas.microsoft.com/office/powerpoint/2010/main" val="9652943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46C542-532E-4E70-83C3-5EB36B33A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2D3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D30"/>
                </a:solidFill>
                <a:latin typeface="Arial"/>
                <a:ea typeface="Arial"/>
                <a:cs typeface="Arial"/>
              </a:rPr>
              <a:t>Modelo de dados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75E3AB-724D-4E81-8B22-F81888851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95450"/>
            <a:ext cx="31146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86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864"/>
                </a:solidFill>
                <a:latin typeface="Arial"/>
                <a:ea typeface="Arial"/>
                <a:cs typeface="Arial"/>
              </a:rPr>
              <a:t>Estrutura pessoal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8CFCAB-5463-4E12-B366-0F9C9AA80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1695450"/>
            <a:ext cx="7296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D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D30"/>
                </a:solidFill>
                <a:latin typeface="Arial"/>
                <a:ea typeface="Arial"/>
                <a:cs typeface="Arial"/>
              </a:rPr>
              <a:t>Usuários possuem contas, grupos e subgrupos. Transações guardam a classificação e seus vínculos de origem.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7B0828-47E4-459D-B379-4D3DB4291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33725"/>
            <a:ext cx="31146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86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864"/>
                </a:solidFill>
                <a:latin typeface="Arial"/>
                <a:ea typeface="Arial"/>
                <a:cs typeface="Arial"/>
              </a:rPr>
              <a:t>Compromissos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458AC3-72D9-4227-AD58-06EFAEA8F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3133725"/>
            <a:ext cx="7296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D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D30"/>
                </a:solidFill>
                <a:latin typeface="Arial"/>
                <a:ea typeface="Arial"/>
                <a:cs typeface="Arial"/>
              </a:rPr>
              <a:t>Parcelamentos e recorrências geram transações. Cartões agrupam faturas, compras e pagamentos.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437580-6FFB-4A12-94D2-4B971B3D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31146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86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864"/>
                </a:solidFill>
                <a:latin typeface="Arial"/>
                <a:ea typeface="Arial"/>
                <a:cs typeface="Arial"/>
              </a:rPr>
              <a:t>Extensões do MVP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1624AB-F5EA-4999-AE8F-8BB2F647E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4572000"/>
            <a:ext cx="7296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D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D30"/>
                </a:solidFill>
                <a:latin typeface="Arial"/>
                <a:ea typeface="Arial"/>
                <a:cs typeface="Arial"/>
              </a:rPr>
              <a:t>Transferências, conferências, estornos, orçamentos, operações idempotentes e créditos entre faturas.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B4D7CA-C3E4-4BFD-85D4-505419244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34125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65D6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65D60"/>
                </a:solidFill>
                <a:latin typeface="Arial"/>
                <a:ea typeface="Arial"/>
                <a:cs typeface="Arial"/>
              </a:rPr>
              <a:t>Guia técnico    /    05</a:t>
            </a:r>
          </a:p>
        </p:txBody>
      </p:sp>
    </p:spTree>
    <p:extLst>
      <p:ext uri="{BB962C8B-B14F-4D97-AF65-F5344CB8AC3E}">
        <p14:creationId xmlns:p14="http://schemas.microsoft.com/office/powerpoint/2010/main" val="27040889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CC337C-3CD5-4C7F-A5D2-46803C85D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2D3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D30"/>
                </a:solidFill>
                <a:latin typeface="Arial"/>
                <a:ea typeface="Arial"/>
                <a:cs typeface="Arial"/>
              </a:rPr>
              <a:t>Consumo e caixa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D6C4F3-EFCE-47F6-A644-840872A04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95450"/>
            <a:ext cx="31146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86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864"/>
                </a:solidFill>
                <a:latin typeface="Arial"/>
                <a:ea typeface="Arial"/>
                <a:cs typeface="Arial"/>
              </a:rPr>
              <a:t>View consumo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B49567-41C7-4422-9A4B-C30B5899C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1695450"/>
            <a:ext cx="7296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D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D30"/>
                </a:solidFill>
                <a:latin typeface="Arial"/>
                <a:ea typeface="Arial"/>
                <a:cs typeface="Arial"/>
              </a:rPr>
              <a:t>Agrega receitas e despesas por competência e seus estornos. Alimenta análises e orçamento.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F02C09-36C1-4283-AB75-B9A62A6B0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33725"/>
            <a:ext cx="31146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86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864"/>
                </a:solidFill>
                <a:latin typeface="Arial"/>
                <a:ea typeface="Arial"/>
                <a:cs typeface="Arial"/>
              </a:rPr>
              <a:t>View movimentos_caixa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3EB15C-14CB-4D8A-AB44-69E1E9FAA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3133725"/>
            <a:ext cx="7296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D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D30"/>
                </a:solidFill>
                <a:latin typeface="Arial"/>
                <a:ea typeface="Arial"/>
                <a:cs typeface="Arial"/>
              </a:rPr>
              <a:t>Considera lançamentos efetivos, transferências, pagamentos de fatura, ajustes e estornos de caixa.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AB332E-3A0D-4ED6-BE20-B42418718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31146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86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864"/>
                </a:solidFill>
                <a:latin typeface="Arial"/>
                <a:ea typeface="Arial"/>
                <a:cs typeface="Arial"/>
              </a:rPr>
              <a:t>Exemplo ilustrativo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260CAF-A275-427D-BB45-1F8F49E80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4572000"/>
            <a:ext cx="7296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D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D30"/>
                </a:solidFill>
                <a:latin typeface="Arial"/>
                <a:ea typeface="Arial"/>
                <a:cs typeface="Arial"/>
              </a:rPr>
              <a:t>Compra de R$ 300 no cartão: consumo de R$ 300. Pagamento de R$ 300: saída da conta, sem nova despesa.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0844E0-ECEC-4DC7-A729-79787C3E1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34125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65D6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65D60"/>
                </a:solidFill>
                <a:latin typeface="Arial"/>
                <a:ea typeface="Arial"/>
                <a:cs typeface="Arial"/>
              </a:rPr>
              <a:t>Guia técnico    /    06</a:t>
            </a:r>
          </a:p>
        </p:txBody>
      </p:sp>
    </p:spTree>
    <p:extLst>
      <p:ext uri="{BB962C8B-B14F-4D97-AF65-F5344CB8AC3E}">
        <p14:creationId xmlns:p14="http://schemas.microsoft.com/office/powerpoint/2010/main" val="6536463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5B9237-A842-4689-9C42-9440CC8C9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2D3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D30"/>
                </a:solidFill>
                <a:latin typeface="Arial"/>
                <a:ea typeface="Arial"/>
                <a:cs typeface="Arial"/>
              </a:rPr>
              <a:t>Dinheiro e datas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FED83B-6E91-4864-92C6-D1BFADAEB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95450"/>
            <a:ext cx="31146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86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864"/>
                </a:solidFill>
                <a:latin typeface="Arial"/>
                <a:ea typeface="Arial"/>
                <a:cs typeface="Arial"/>
              </a:rPr>
              <a:t>Centavos inteiros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C51F0F-21EB-45F3-9ACC-E7F218594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1695450"/>
            <a:ext cx="7296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D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D30"/>
                </a:solidFill>
                <a:latin typeface="Arial"/>
                <a:ea typeface="Arial"/>
                <a:cs typeface="Arial"/>
              </a:rPr>
              <a:t>Money converte valores na entrada. A divisão de parcelas distribui o resto sem perder centavos.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888B84-D8AA-4D0F-AA51-C113682BB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33725"/>
            <a:ext cx="31146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86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864"/>
                </a:solidFill>
                <a:latin typeface="Arial"/>
                <a:ea typeface="Arial"/>
                <a:cs typeface="Arial"/>
              </a:rPr>
              <a:t>Datas válidas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84F7C4-E3A1-4A89-8673-FE929D57F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3133725"/>
            <a:ext cx="7296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D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D30"/>
                </a:solidFill>
                <a:latin typeface="Arial"/>
                <a:ea typeface="Arial"/>
                <a:cs typeface="Arial"/>
              </a:rPr>
              <a:t>FinancialDate valida datas e meses. Vencimentos nos dias 29, 30 e 31 se ajustam ao fim do mês.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7495F4-34AB-49B4-B183-4A204904E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31146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86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864"/>
                </a:solidFill>
                <a:latin typeface="Arial"/>
                <a:ea typeface="Arial"/>
                <a:cs typeface="Arial"/>
              </a:rPr>
              <a:t>Histórico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F74B1C-2183-4B34-9B13-86B453CEA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4572000"/>
            <a:ext cx="7296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D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D30"/>
                </a:solidFill>
                <a:latin typeface="Arial"/>
                <a:ea typeface="Arial"/>
                <a:cs typeface="Arial"/>
              </a:rPr>
              <a:t>A data inicial delimita o saldo da conta. Alterações de recorrência não reescrevem lançamentos antigos.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EEBA66-4C67-48D7-91C8-6D8EAA8D3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34125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65D6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65D60"/>
                </a:solidFill>
                <a:latin typeface="Arial"/>
                <a:ea typeface="Arial"/>
                <a:cs typeface="Arial"/>
              </a:rPr>
              <a:t>Guia técnico    /    07</a:t>
            </a:r>
          </a:p>
        </p:txBody>
      </p:sp>
    </p:spTree>
    <p:extLst>
      <p:ext uri="{BB962C8B-B14F-4D97-AF65-F5344CB8AC3E}">
        <p14:creationId xmlns:p14="http://schemas.microsoft.com/office/powerpoint/2010/main" val="8635274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805352-6AE8-45D3-9B26-1F003EF62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2D3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D30"/>
                </a:solidFill>
                <a:latin typeface="Arial"/>
                <a:ea typeface="Arial"/>
                <a:cs typeface="Arial"/>
              </a:rPr>
              <a:t>Ciclo de cartões e faturas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D9860E-377B-4466-BBB4-A10A0AB42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95450"/>
            <a:ext cx="31146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86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864"/>
                </a:solidFill>
                <a:latin typeface="Arial"/>
                <a:ea typeface="Arial"/>
                <a:cs typeface="Arial"/>
              </a:rPr>
              <a:t>Competência da fatura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F94088-5DCD-427A-A056-11B89AD07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1695450"/>
            <a:ext cx="7296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D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D30"/>
                </a:solidFill>
                <a:latin typeface="Arial"/>
                <a:ea typeface="Arial"/>
                <a:cs typeface="Arial"/>
              </a:rPr>
              <a:t>Uma compra no dia do fechamento entra no próximo ciclo. A primeira fatura também pode ser escolhida.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EC7DF4-8523-4F41-8ABF-3ED847218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33725"/>
            <a:ext cx="31146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86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864"/>
                </a:solidFill>
                <a:latin typeface="Arial"/>
                <a:ea typeface="Arial"/>
                <a:cs typeface="Arial"/>
              </a:rPr>
              <a:t>Parcelas e limite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63BBE9-CD83-4943-9B5F-FC8460CF4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3133725"/>
            <a:ext cx="7296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D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D30"/>
                </a:solidFill>
                <a:latin typeface="Arial"/>
                <a:ea typeface="Arial"/>
                <a:cs typeface="Arial"/>
              </a:rPr>
              <a:t>Cada parcela recebe fatura própria. O total ainda não pago compromete o limite.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2A59F7-5058-4685-ADB5-FDFB7E97C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31146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86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864"/>
                </a:solidFill>
                <a:latin typeface="Arial"/>
                <a:ea typeface="Arial"/>
                <a:cs typeface="Arial"/>
              </a:rPr>
              <a:t>Pagamento e crédito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98E2B1-317D-451C-98E0-48C661EE7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4572000"/>
            <a:ext cx="7296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D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D30"/>
                </a:solidFill>
                <a:latin typeface="Arial"/>
                <a:ea typeface="Arial"/>
                <a:cs typeface="Arial"/>
              </a:rPr>
              <a:t>Pagamento parcial ou integral debita a conta. Estornos geram créditos e podem alimentar faturas futuras.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92A353-4570-4495-AAE6-3F6000C3E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34125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65D6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65D60"/>
                </a:solidFill>
                <a:latin typeface="Arial"/>
                <a:ea typeface="Arial"/>
                <a:cs typeface="Arial"/>
              </a:rPr>
              <a:t>Guia técnico    /    08</a:t>
            </a:r>
          </a:p>
        </p:txBody>
      </p:sp>
    </p:spTree>
    <p:extLst>
      <p:ext uri="{BB962C8B-B14F-4D97-AF65-F5344CB8AC3E}">
        <p14:creationId xmlns:p14="http://schemas.microsoft.com/office/powerpoint/2010/main" val="93584925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7DEF8B-B5ED-43E5-831E-D80059618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2D3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D30"/>
                </a:solidFill>
                <a:latin typeface="Arial"/>
                <a:ea typeface="Arial"/>
                <a:cs typeface="Arial"/>
              </a:rPr>
              <a:t>Atomicidade e reenvios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3E34D0-0A21-4EF3-A77D-BE85C76F5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95450"/>
            <a:ext cx="31146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86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864"/>
                </a:solidFill>
                <a:latin typeface="Arial"/>
                <a:ea typeface="Arial"/>
                <a:cs typeface="Arial"/>
              </a:rPr>
              <a:t>Transação financeira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EE74C1-C90B-4595-8472-E0C799441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1695450"/>
            <a:ext cx="7296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D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D30"/>
                </a:solidFill>
                <a:latin typeface="Arial"/>
                <a:ea typeface="Arial"/>
                <a:cs typeface="Arial"/>
              </a:rPr>
              <a:t>FinanceRepository usa BEGIN IMMEDIATE com COMMIT ou ROLLBACK para operações compostas.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5D470E-9562-40D7-A54B-41ADB0729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33725"/>
            <a:ext cx="31146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86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864"/>
                </a:solidFill>
                <a:latin typeface="Arial"/>
                <a:ea typeface="Arial"/>
                <a:cs typeface="Arial"/>
              </a:rPr>
              <a:t>Chave durável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5D715A-0576-4600-9E58-DF4C4FE70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3133725"/>
            <a:ext cx="7296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D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D30"/>
                </a:solidFill>
                <a:latin typeface="Arial"/>
                <a:ea typeface="Arial"/>
                <a:cs typeface="Arial"/>
              </a:rPr>
              <a:t>Transferências, compras, pagamentos, estornos e conferências registram a chave na mesma transação.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6A6DC8-F293-4F33-B708-41ECD4FD7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31146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86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864"/>
                </a:solidFill>
                <a:latin typeface="Arial"/>
                <a:ea typeface="Arial"/>
                <a:cs typeface="Arial"/>
              </a:rPr>
              <a:t>Outras proteções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89F9C2-6713-408B-9697-396781BE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4572000"/>
            <a:ext cx="7296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D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D30"/>
                </a:solidFill>
                <a:latin typeface="Arial"/>
                <a:ea typeface="Arial"/>
                <a:cs typeface="Arial"/>
              </a:rPr>
              <a:t>Formulários legados têm controle de reenvio na sessão. Recorrências evitam duplicação por ocorrência.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38A04E-064E-430F-B2BD-2ED74766B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34125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65D6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65D60"/>
                </a:solidFill>
                <a:latin typeface="Arial"/>
                <a:ea typeface="Arial"/>
                <a:cs typeface="Arial"/>
              </a:rPr>
              <a:t>Guia técnico    /    09</a:t>
            </a:r>
          </a:p>
        </p:txBody>
      </p:sp>
    </p:spTree>
    <p:extLst>
      <p:ext uri="{BB962C8B-B14F-4D97-AF65-F5344CB8AC3E}">
        <p14:creationId xmlns:p14="http://schemas.microsoft.com/office/powerpoint/2010/main" val="34335060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CADADF-4030-4BE7-A1F6-3EE3217BA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2D3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D30"/>
                </a:solidFill>
                <a:latin typeface="Arial"/>
                <a:ea typeface="Arial"/>
                <a:cs typeface="Arial"/>
              </a:rPr>
              <a:t>Segurança implementada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9D14B3-12C2-4914-8A8C-5BDF1D545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95450"/>
            <a:ext cx="31146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86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864"/>
                </a:solidFill>
                <a:latin typeface="Arial"/>
                <a:ea typeface="Arial"/>
                <a:cs typeface="Arial"/>
              </a:rPr>
              <a:t>Propriedade dos registros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0120B3-1F58-499C-ACC6-58F942398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1695450"/>
            <a:ext cx="7296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D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D30"/>
                </a:solidFill>
                <a:latin typeface="Arial"/>
                <a:ea typeface="Arial"/>
                <a:cs typeface="Arial"/>
              </a:rPr>
              <a:t>Consultas e operações usam usuario_id. IDs enviados pelo navegador precisam pertencer ao usuário.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614424-9B5B-43CE-8DE9-8505659B7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33725"/>
            <a:ext cx="31146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86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864"/>
                </a:solidFill>
                <a:latin typeface="Arial"/>
                <a:ea typeface="Arial"/>
                <a:cs typeface="Arial"/>
              </a:rPr>
              <a:t>HTTP e sessão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E0DFDE-E797-4B2F-AF65-53E2DBAD1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3133725"/>
            <a:ext cx="7296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D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D30"/>
                </a:solidFill>
                <a:latin typeface="Arial"/>
                <a:ea typeface="Arial"/>
                <a:cs typeface="Arial"/>
              </a:rPr>
              <a:t>Mudanças de estado usam POST com CSRF. Saídas HTML têm escape e cookies usam HttpOnly e SameSite.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DAC1AF-D80E-496B-BA71-9B935121B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31146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86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864"/>
                </a:solidFill>
                <a:latin typeface="Arial"/>
                <a:ea typeface="Arial"/>
                <a:cs typeface="Arial"/>
              </a:rPr>
              <a:t>Erros e autenticação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BD9D2A-A239-4B1F-BA34-0C40B1236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4572000"/>
            <a:ext cx="7296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D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D30"/>
                </a:solidFill>
                <a:latin typeface="Arial"/>
                <a:ea typeface="Arial"/>
                <a:cs typeface="Arial"/>
              </a:rPr>
              <a:t>Login limita tentativas. Exceções geram logs internos e respostas sem detalhes de SQL. CSV trata fórmulas.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30496C-5EB5-462C-8630-8EC83C1D9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34125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65D6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65D60"/>
                </a:solidFill>
                <a:latin typeface="Arial"/>
                <a:ea typeface="Arial"/>
                <a:cs typeface="Arial"/>
              </a:rPr>
              <a:t>Guia técnico    /    10</a:t>
            </a:r>
          </a:p>
        </p:txBody>
      </p:sp>
    </p:spTree>
    <p:extLst>
      <p:ext uri="{BB962C8B-B14F-4D97-AF65-F5344CB8AC3E}">
        <p14:creationId xmlns:p14="http://schemas.microsoft.com/office/powerpoint/2010/main" val="116408417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6F7CA7-1109-4617-9F6C-C50336B96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2D3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D30"/>
                </a:solidFill>
                <a:latin typeface="Arial"/>
                <a:ea typeface="Arial"/>
                <a:cs typeface="Arial"/>
              </a:rPr>
              <a:t>Relatórios e desempenho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A5628F-A906-4B06-B611-D584BDE77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95450"/>
            <a:ext cx="31146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86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864"/>
                </a:solidFill>
                <a:latin typeface="Arial"/>
                <a:ea typeface="Arial"/>
                <a:cs typeface="Arial"/>
              </a:rPr>
              <a:t>Consulta agregada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F05A48-CF95-478A-BCF0-6D0079327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1695450"/>
            <a:ext cx="7296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D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D30"/>
                </a:solidFill>
                <a:latin typeface="Arial"/>
                <a:ea typeface="Arial"/>
                <a:cs typeface="Arial"/>
              </a:rPr>
              <a:t>Repositories calculam totais por período e dimensão. A lista de movimentos usa páginas de 50 registros.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74FBBD-9451-4115-9424-216476A01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33725"/>
            <a:ext cx="31146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86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864"/>
                </a:solidFill>
                <a:latin typeface="Arial"/>
                <a:ea typeface="Arial"/>
                <a:cs typeface="Arial"/>
              </a:rPr>
              <a:t>Previsão atual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92A4EA-FE6E-422B-8449-4DCFA891F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3133725"/>
            <a:ext cx="7296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D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D30"/>
                </a:solidFill>
                <a:latin typeface="Arial"/>
                <a:ea typeface="Arial"/>
                <a:cs typeface="Arial"/>
              </a:rPr>
              <a:t>Saldo mais pendências cadastradas menos faturas a vencer até o fim do mês, incluindo atrasados.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112B87-D63F-4CCF-9AFE-08145EE18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31146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86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864"/>
                </a:solidFill>
                <a:latin typeface="Arial"/>
                <a:ea typeface="Arial"/>
                <a:cs typeface="Arial"/>
              </a:rPr>
              <a:t>SQLite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AD4529-FB5C-452F-A696-36A981BAB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4572000"/>
            <a:ext cx="7296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D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D30"/>
                </a:solidFill>
                <a:latin typeface="Arial"/>
                <a:ea typeface="Arial"/>
                <a:cs typeface="Arial"/>
              </a:rPr>
              <a:t>Foreign keys, WAL e busy timeout compõem a configuração. A concorrência real ainda requer avaliação.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245571-16D3-433A-9883-A28ED9F42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34125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65D6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65D60"/>
                </a:solidFill>
                <a:latin typeface="Arial"/>
                <a:ea typeface="Arial"/>
                <a:cs typeface="Arial"/>
              </a:rPr>
              <a:t>Guia técnico    /    11</a:t>
            </a:r>
          </a:p>
        </p:txBody>
      </p:sp>
    </p:spTree>
    <p:extLst>
      <p:ext uri="{BB962C8B-B14F-4D97-AF65-F5344CB8AC3E}">
        <p14:creationId xmlns:p14="http://schemas.microsoft.com/office/powerpoint/2010/main" val="7032234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B1278C-9FE4-4D05-B7A6-542375508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2D3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D30"/>
                </a:solidFill>
                <a:latin typeface="Arial"/>
                <a:ea typeface="Arial"/>
                <a:cs typeface="Arial"/>
              </a:rPr>
              <a:t>Ambiente local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C3E7AA-8ED5-4D29-B10F-36469FEA4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95450"/>
            <a:ext cx="31146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86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864"/>
                </a:solidFill>
                <a:latin typeface="Arial"/>
                <a:ea typeface="Arial"/>
                <a:cs typeface="Arial"/>
              </a:rPr>
              <a:t>Inicialização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1E3B5F-AA34-4537-8840-3B85D76EF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1695450"/>
            <a:ext cx="7296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D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D30"/>
                </a:solidFill>
                <a:latin typeface="Arial"/>
                <a:ea typeface="Arial"/>
                <a:cs typeface="Arial"/>
              </a:rPr>
              <a:t>composer install</a:t>
            </a:r>
          </a:p>
          <a:p xmlns:a="http://schemas.openxmlformats.org/drawingml/2006/main">
            <a:pPr>
              <a:defRPr sz="2025" b="0">
                <a:solidFill>
                  <a:srgbClr val="142D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D30"/>
                </a:solidFill>
                <a:latin typeface="Arial"/>
                <a:ea typeface="Arial"/>
                <a:cs typeface="Arial"/>
              </a:rPr>
              <a:t>php database/migrate.php</a:t>
            </a:r>
          </a:p>
          <a:p xmlns:a="http://schemas.openxmlformats.org/drawingml/2006/main">
            <a:pPr>
              <a:defRPr sz="2025" b="0">
                <a:solidFill>
                  <a:srgbClr val="142D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D30"/>
                </a:solidFill>
                <a:latin typeface="Arial"/>
                <a:ea typeface="Arial"/>
                <a:cs typeface="Arial"/>
              </a:rPr>
              <a:t>Apache servindo public/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0D9503-5D05-4039-B388-D4037A0C7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33725"/>
            <a:ext cx="31146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86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864"/>
                </a:solidFill>
                <a:latin typeface="Arial"/>
                <a:ea typeface="Arial"/>
                <a:cs typeface="Arial"/>
              </a:rPr>
              <a:t>Configuração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B793EB-85DB-4122-898E-83C94A694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3133725"/>
            <a:ext cx="7296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D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D30"/>
                </a:solidFill>
                <a:latin typeface="Arial"/>
                <a:ea typeface="Arial"/>
                <a:cs typeface="Arial"/>
              </a:rPr>
              <a:t>UAIMONEY_DATABASE, UAIMONEY_BASE_PATH e UAIMONEY_ENV vêm do ambiente do processo. Não há carregador de .env.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E9E7F4-DA77-4A78-A0FF-C79F1579D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31146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86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864"/>
                </a:solidFill>
                <a:latin typeface="Arial"/>
                <a:ea typeface="Arial"/>
                <a:cs typeface="Arial"/>
              </a:rPr>
              <a:t>Arquivos locais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02724B-1E2D-487E-B01F-88FEBE160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4572000"/>
            <a:ext cx="7296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D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D30"/>
                </a:solidFill>
                <a:latin typeface="Arial"/>
                <a:ea typeface="Arial"/>
                <a:cs typeface="Arial"/>
              </a:rPr>
              <a:t>Banco em storage/database. Sessões em storage/sessions e logs em storage/logs.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E33012-C483-4B24-B2D0-DED02D422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34125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65D6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65D60"/>
                </a:solidFill>
                <a:latin typeface="Arial"/>
                <a:ea typeface="Arial"/>
                <a:cs typeface="Arial"/>
              </a:rPr>
              <a:t>Guia técnico    /    12</a:t>
            </a:r>
          </a:p>
        </p:txBody>
      </p:sp>
    </p:spTree>
    <p:extLst>
      <p:ext uri="{BB962C8B-B14F-4D97-AF65-F5344CB8AC3E}">
        <p14:creationId xmlns:p14="http://schemas.microsoft.com/office/powerpoint/2010/main" val="68228040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17E22F-3553-4ACA-AEFB-2DAC8D2CB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2D3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D30"/>
                </a:solidFill>
                <a:latin typeface="Arial"/>
                <a:ea typeface="Arial"/>
                <a:cs typeface="Arial"/>
              </a:rPr>
              <a:t>Migrations e backup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AA925D-0712-44F5-BF72-71D5F48A1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95450"/>
            <a:ext cx="31146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86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864"/>
                </a:solidFill>
                <a:latin typeface="Arial"/>
                <a:ea typeface="Arial"/>
                <a:cs typeface="Arial"/>
              </a:rPr>
              <a:t>Schema incremental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51FB64-36BD-4093-8D87-FCB400070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1695450"/>
            <a:ext cx="7296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D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D30"/>
                </a:solidFill>
                <a:latin typeface="Arial"/>
                <a:ea typeface="Arial"/>
                <a:cs typeface="Arial"/>
              </a:rPr>
              <a:t>Migrations 018 e 019 ampliam o schema 017. O teste de atualização verifica dados e saldos preservados.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1BF5C8-3ED7-4015-8D7B-0D273793F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33725"/>
            <a:ext cx="31146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86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864"/>
                </a:solidFill>
                <a:latin typeface="Arial"/>
                <a:ea typeface="Arial"/>
                <a:cs typeface="Arial"/>
              </a:rPr>
              <a:t>Cópia consistente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75B778-2164-455A-9976-B3E26D0E5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3133725"/>
            <a:ext cx="7296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D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D30"/>
                </a:solidFill>
                <a:latin typeface="Arial"/>
                <a:ea typeface="Arial"/>
                <a:cs typeface="Arial"/>
              </a:rPr>
              <a:t>php bin/backup.php usa VACUUM INTO e integrity_check. As cópias ficam em storage/backups.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13ADBA-63FA-4A1F-961C-7073B073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31146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86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864"/>
                </a:solidFill>
                <a:latin typeface="Arial"/>
                <a:ea typeface="Arial"/>
                <a:cs typeface="Arial"/>
              </a:rPr>
              <a:t>Restauração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DB2B5D-0793-4438-82D3-E7950BD28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4572000"/>
            <a:ext cx="7296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D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D30"/>
                </a:solidFill>
                <a:latin typeface="Arial"/>
                <a:ea typeface="Arial"/>
                <a:cs typeface="Arial"/>
              </a:rPr>
              <a:t>Pare conexões, preserve o estado atual e restaure sem reutilizar WAL/SHM antigos. Ensaie em ambiente separado.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E08AFD-4D18-41D3-A44A-570D9D091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34125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65D6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65D60"/>
                </a:solidFill>
                <a:latin typeface="Arial"/>
                <a:ea typeface="Arial"/>
                <a:cs typeface="Arial"/>
              </a:rPr>
              <a:t>Guia técnico    /    13</a:t>
            </a:r>
          </a:p>
        </p:txBody>
      </p:sp>
    </p:spTree>
    <p:extLst>
      <p:ext uri="{BB962C8B-B14F-4D97-AF65-F5344CB8AC3E}">
        <p14:creationId xmlns:p14="http://schemas.microsoft.com/office/powerpoint/2010/main" val="200975890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6D1D9D-757B-47E3-8210-41B9E5AEC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2D3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D30"/>
                </a:solidFill>
                <a:latin typeface="Arial"/>
                <a:ea typeface="Arial"/>
                <a:cs typeface="Arial"/>
              </a:rPr>
              <a:t>Testes e evidências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9ED2C6-9425-46EC-91A3-17F07EDAB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95450"/>
            <a:ext cx="31146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86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864"/>
                </a:solidFill>
                <a:latin typeface="Arial"/>
                <a:ea typeface="Arial"/>
                <a:cs typeface="Arial"/>
              </a:rPr>
              <a:t>Regras financeiras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C3AA17-3D06-46FC-B1AA-B0CA7E78C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1695450"/>
            <a:ext cx="7296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D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D30"/>
                </a:solidFill>
                <a:latin typeface="Arial"/>
                <a:ea typeface="Arial"/>
                <a:cs typeface="Arial"/>
              </a:rPr>
              <a:t>tests/run.php: 61 verificações de dinheiro, datas, parcelas, faturas, estornos, recorrências e isolamento.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14E21B-9D07-4169-B80A-99CCE3F8A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33725"/>
            <a:ext cx="31146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86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864"/>
                </a:solidFill>
                <a:latin typeface="Arial"/>
                <a:ea typeface="Arial"/>
                <a:cs typeface="Arial"/>
              </a:rPr>
              <a:t>Fluxos HTTP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371A67-9AC2-47FE-A841-A8E0FA82C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3133725"/>
            <a:ext cx="7296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D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D30"/>
                </a:solidFill>
                <a:latin typeface="Arial"/>
                <a:ea typeface="Arial"/>
                <a:cs typeface="Arial"/>
              </a:rPr>
              <a:t>tests/http_smoke.py: 81 verificações em servidor descartável, incluindo cadastro, CSRF, CSV e acesso cruzado.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782E9B-CABC-472B-8F1D-988E1F1A3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31146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86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864"/>
                </a:solidFill>
                <a:latin typeface="Arial"/>
                <a:ea typeface="Arial"/>
                <a:cs typeface="Arial"/>
              </a:rPr>
              <a:t>Atualização e interface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64AD63-CBA8-4078-9104-89AF69E7E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4572000"/>
            <a:ext cx="7296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D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D30"/>
                </a:solidFill>
                <a:latin typeface="Arial"/>
                <a:ea typeface="Arial"/>
                <a:cs typeface="Arial"/>
              </a:rPr>
              <a:t>tests/upgrade.php confere a migração. Houve inspeção visual em desktop e celular. Falta a aceitação com uso real.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AB7192-4754-4D2E-BB3D-28156FEC1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34125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65D6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65D60"/>
                </a:solidFill>
                <a:latin typeface="Arial"/>
                <a:ea typeface="Arial"/>
                <a:cs typeface="Arial"/>
              </a:rPr>
              <a:t>Guia técnico    /    14</a:t>
            </a:r>
          </a:p>
        </p:txBody>
      </p:sp>
    </p:spTree>
    <p:extLst>
      <p:ext uri="{BB962C8B-B14F-4D97-AF65-F5344CB8AC3E}">
        <p14:creationId xmlns:p14="http://schemas.microsoft.com/office/powerpoint/2010/main" val="66263524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383E5F-D812-4F5B-9FD5-322E01A2C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2D3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D30"/>
                </a:solidFill>
                <a:latin typeface="Arial"/>
                <a:ea typeface="Arial"/>
                <a:cs typeface="Arial"/>
              </a:rPr>
              <a:t>Limitações e próxima versão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C4C0C7-508A-4E18-B3B1-EEC7A1937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95450"/>
            <a:ext cx="31146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86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864"/>
                </a:solidFill>
                <a:latin typeface="Arial"/>
                <a:ea typeface="Arial"/>
                <a:cs typeface="Arial"/>
              </a:rPr>
              <a:t>Limitações funcionais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569353-8B0F-4108-9558-9B2A7B169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1695450"/>
            <a:ext cx="7296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D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D30"/>
                </a:solidFill>
                <a:latin typeface="Arial"/>
                <a:ea typeface="Arial"/>
                <a:cs typeface="Arial"/>
              </a:rPr>
              <a:t>Sem reversão de pagamento de fatura. Orçamento por categoria. Recorrências locais com processamento manual.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C59410-96CE-4511-BAB9-BCED6F6AF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33725"/>
            <a:ext cx="31146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86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864"/>
                </a:solidFill>
                <a:latin typeface="Arial"/>
                <a:ea typeface="Arial"/>
                <a:cs typeface="Arial"/>
              </a:rPr>
              <a:t>Fechamento do MVP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E26062-539F-4584-8335-A5CA4FB17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3133725"/>
            <a:ext cx="7296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D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D30"/>
                </a:solidFill>
                <a:latin typeface="Arial"/>
                <a:ea typeface="Arial"/>
                <a:cs typeface="Arial"/>
              </a:rPr>
              <a:t>Validar os fluxos com o usuário, corrigir achados e registrar commit e tag da versão estável.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62146E-2452-405B-92A6-D6B14DDD2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31146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86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864"/>
                </a:solidFill>
                <a:latin typeface="Arial"/>
                <a:ea typeface="Arial"/>
                <a:cs typeface="Arial"/>
              </a:rPr>
              <a:t>Etapa comercial futura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94FAAE-5D13-4DDE-8D7A-81932852D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4572000"/>
            <a:ext cx="7296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D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D30"/>
                </a:solidFill>
                <a:latin typeface="Arial"/>
                <a:ea typeface="Arial"/>
                <a:cs typeface="Arial"/>
              </a:rPr>
              <a:t>Planos, cobrança, webhooks, recuperação de acesso, verificação de e-mail, HTTPS, backups automáticos e monitoramento.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DE9853-20EB-4EEB-9667-18752FD1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34125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65D6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65D60"/>
                </a:solidFill>
                <a:latin typeface="Arial"/>
                <a:ea typeface="Arial"/>
                <a:cs typeface="Arial"/>
              </a:rPr>
              <a:t>Guia técnico    /    15</a:t>
            </a:r>
          </a:p>
        </p:txBody>
      </p:sp>
    </p:spTree>
    <p:extLst>
      <p:ext uri="{BB962C8B-B14F-4D97-AF65-F5344CB8AC3E}">
        <p14:creationId xmlns:p14="http://schemas.microsoft.com/office/powerpoint/2010/main" val="27387507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93C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5F6F3A-88C2-4704-8B7D-02BA3CC77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Continuidade do desenvolvimento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516AC0-FA8D-407C-9187-C66846644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95450"/>
            <a:ext cx="31146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67E0B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7E0BE"/>
                </a:solidFill>
                <a:latin typeface="Arial"/>
                <a:ea typeface="Arial"/>
                <a:cs typeface="Arial"/>
              </a:rPr>
              <a:t>Referências do projeto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229AE1-6610-46E3-B57A-348AF22AD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1695450"/>
            <a:ext cx="7296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README.md</a:t>
            </a:r>
          </a:p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docs/mvp-implementation.md</a:t>
            </a:r>
          </a:p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docs/operations.md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877980-11E3-45FC-8894-3AAA63E62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33725"/>
            <a:ext cx="31146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67E0B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7E0BE"/>
                </a:solidFill>
                <a:latin typeface="Arial"/>
                <a:ea typeface="Arial"/>
                <a:cs typeface="Arial"/>
              </a:rPr>
              <a:t>Roteiro de alteração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BA9022-C159-4A30-ABDD-376EFF5FF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3133725"/>
            <a:ext cx="7296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Reproduza o caso, preserve as regras em Services e cubra o comportamento financeiro com teste significativo.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F95765-A845-4013-A2DD-DE3998F27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31146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67E0B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7E0BE"/>
                </a:solidFill>
                <a:latin typeface="Arial"/>
                <a:ea typeface="Arial"/>
                <a:cs typeface="Arial"/>
              </a:rPr>
              <a:t>Critério de evolução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755B32-16F0-48EB-B560-8B72AA12B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4572000"/>
            <a:ext cx="7296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Mantenha a validação local como prioridade. Mudanças de stack e integração de cobrança pertencem a marcos futuros.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3D6D99-1DB8-49E6-A74D-5FB65ADD2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34125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EDBD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EDBD4"/>
                </a:solidFill>
                <a:latin typeface="Arial"/>
                <a:ea typeface="Arial"/>
                <a:cs typeface="Arial"/>
              </a:rPr>
              <a:t>Guia técnico    /    16</a:t>
            </a:r>
          </a:p>
        </p:txBody>
      </p:sp>
    </p:spTree>
    <p:extLst>
      <p:ext uri="{BB962C8B-B14F-4D97-AF65-F5344CB8AC3E}">
        <p14:creationId xmlns:p14="http://schemas.microsoft.com/office/powerpoint/2010/main" val="17077462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2026-09-22T23:24:56.7990000Z</dcterms:created>
  <dcterms:modified xsi:type="dcterms:W3CDTF">2026-09-22T23:24:56.7990000Z</dcterms:modified>
</coreProperties>
</file>